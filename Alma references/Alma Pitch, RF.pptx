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oca Two Bold" charset="1" panose="00000800000000000000"/>
      <p:regular r:id="rId18"/>
    </p:embeddedFont>
    <p:embeddedFont>
      <p:font typeface="TT Chocolates" charset="1" panose="02000503020000020003"/>
      <p:regular r:id="rId19"/>
    </p:embeddedFont>
    <p:embeddedFont>
      <p:font typeface="TT Chocolates Bold" charset="1" panose="02000803020000020003"/>
      <p:regular r:id="rId20"/>
    </p:embeddedFont>
    <p:embeddedFont>
      <p:font typeface="Roca Two" charset="1" panose="00000500000000000000"/>
      <p:regular r:id="rId21"/>
    </p:embeddedFont>
    <p:embeddedFont>
      <p:font typeface="Roca Two Heavy" charset="1" panose="00000A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Alma_Traction.pdf, page 3.</a:t>
            </a:r>
          </a:p>
          <a:p>
            <a:r>
              <a:rPr lang="en-US"/>
              <a:t>Source: App Store Connect; cumulative first-time downloads Dec 2025–Apr 2026.</a:t>
            </a:r>
          </a:p>
          <a:p>
            <a:r>
              <a:rPr lang="en-US"/>
              <a:t>6,516 downloads through April; 57.8 min average engagement per active user.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Alma_Traction.pdf, page 5.</a:t>
            </a:r>
          </a:p>
          <a:p>
            <a:r>
              <a:rPr lang="en-US"/>
              <a:t>Sources: App Store downloads and recorded Google Ads spend.</a:t>
            </a:r>
          </a:p>
          <a:p>
            <a:r>
              <a:rPr lang="en-US"/>
              <a:t>Directional ratio: downloads ÷ spend; April spend covers 1–9 Apr 2026.</a:t>
            </a:r>
          </a:p>
          <a:p>
            <a:r>
              <a:rPr lang="en-US"/>
              <a:t>February 3.2; March 3.1; April 9.5 downloads per £. April is 3.1× March’s recorded rate.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jpeg" Type="http://schemas.openxmlformats.org/officeDocument/2006/relationships/image"/><Relationship Id="rId4" Target="../media/VAHTBl-27w0.mp4" Type="http://schemas.openxmlformats.org/officeDocument/2006/relationships/video"/><Relationship Id="rId5" Target="../media/VAHTBl-27w0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6.gif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6.gif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6.gif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6.gif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2.jpeg" Type="http://schemas.openxmlformats.org/officeDocument/2006/relationships/image"/><Relationship Id="rId5" Target="../media/image13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14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15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jpeg" Type="http://schemas.openxmlformats.org/officeDocument/2006/relationships/image"/><Relationship Id="rId4" Target="../media/VAHTDspKu3Y.mp4" Type="http://schemas.openxmlformats.org/officeDocument/2006/relationships/video"/><Relationship Id="rId5" Target="../media/VAHTDspKu3Y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53167" y="296192"/>
            <a:ext cx="2300673" cy="2300673"/>
          </a:xfrm>
          <a:custGeom>
            <a:avLst/>
            <a:gdLst/>
            <a:ahLst/>
            <a:cxnLst/>
            <a:rect r="r" b="b" t="t" l="l"/>
            <a:pathLst>
              <a:path h="2300673" w="2300673">
                <a:moveTo>
                  <a:pt x="0" y="0"/>
                </a:moveTo>
                <a:lnTo>
                  <a:pt x="2300673" y="0"/>
                </a:lnTo>
                <a:lnTo>
                  <a:pt x="2300673" y="2300674"/>
                </a:lnTo>
                <a:lnTo>
                  <a:pt x="0" y="23006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40283" y="2597312"/>
            <a:ext cx="8915620" cy="203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60"/>
              </a:lnSpc>
            </a:pPr>
            <a:r>
              <a:rPr lang="en-US" b="true" sz="17512" spc="998">
                <a:solidFill>
                  <a:srgbClr val="0072FF"/>
                </a:solidFill>
                <a:latin typeface="Roca Two Bold"/>
                <a:ea typeface="Roca Two Bold"/>
                <a:cs typeface="Roca Two Bold"/>
                <a:sym typeface="Roca Two Bold"/>
              </a:rPr>
              <a:t>ALMA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979243" y="9210675"/>
            <a:ext cx="2560114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23 Aug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40283" y="4792620"/>
            <a:ext cx="8557437" cy="326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5"/>
              </a:lnSpc>
            </a:pPr>
            <a:r>
              <a:rPr lang="en-US" sz="3746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RF team,</a:t>
            </a:r>
          </a:p>
          <a:p>
            <a:pPr algn="ctr">
              <a:lnSpc>
                <a:spcPts val="5245"/>
              </a:lnSpc>
            </a:pPr>
          </a:p>
          <a:p>
            <a:pPr algn="ctr">
              <a:lnSpc>
                <a:spcPts val="5245"/>
              </a:lnSpc>
            </a:pPr>
            <a:r>
              <a:rPr lang="en-US" sz="3746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Welcome to the future of education</a:t>
            </a:r>
          </a:p>
          <a:p>
            <a:pPr algn="ctr">
              <a:lnSpc>
                <a:spcPts val="5245"/>
              </a:lnSpc>
            </a:pPr>
          </a:p>
          <a:p>
            <a:pPr algn="ctr" marL="0" indent="0" lvl="0">
              <a:lnSpc>
                <a:spcPts val="5245"/>
              </a:lnSpc>
              <a:spcBef>
                <a:spcPct val="0"/>
              </a:spcBef>
            </a:pPr>
            <a:r>
              <a:rPr lang="en-US" b="true" sz="374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Enjoy!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5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006921" y="3410866"/>
            <a:ext cx="5806521" cy="2196585"/>
            <a:chOff x="0" y="0"/>
            <a:chExt cx="1529290" cy="5785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9290" cy="578525"/>
            </a:xfrm>
            <a:custGeom>
              <a:avLst/>
              <a:gdLst/>
              <a:ahLst/>
              <a:cxnLst/>
              <a:rect r="r" b="b" t="t" l="l"/>
              <a:pathLst>
                <a:path h="578525" w="1529290">
                  <a:moveTo>
                    <a:pt x="16000" y="0"/>
                  </a:moveTo>
                  <a:lnTo>
                    <a:pt x="1513290" y="0"/>
                  </a:lnTo>
                  <a:cubicBezTo>
                    <a:pt x="1517533" y="0"/>
                    <a:pt x="1521603" y="1686"/>
                    <a:pt x="1524603" y="4686"/>
                  </a:cubicBezTo>
                  <a:cubicBezTo>
                    <a:pt x="1527604" y="7687"/>
                    <a:pt x="1529290" y="11756"/>
                    <a:pt x="1529290" y="16000"/>
                  </a:cubicBezTo>
                  <a:lnTo>
                    <a:pt x="1529290" y="562525"/>
                  </a:lnTo>
                  <a:cubicBezTo>
                    <a:pt x="1529290" y="571361"/>
                    <a:pt x="1522126" y="578525"/>
                    <a:pt x="1513290" y="578525"/>
                  </a:cubicBezTo>
                  <a:lnTo>
                    <a:pt x="16000" y="578525"/>
                  </a:lnTo>
                  <a:cubicBezTo>
                    <a:pt x="7163" y="578525"/>
                    <a:pt x="0" y="571361"/>
                    <a:pt x="0" y="562525"/>
                  </a:cubicBezTo>
                  <a:lnTo>
                    <a:pt x="0" y="16000"/>
                  </a:lnTo>
                  <a:cubicBezTo>
                    <a:pt x="0" y="7163"/>
                    <a:pt x="7163" y="0"/>
                    <a:pt x="16000" y="0"/>
                  </a:cubicBezTo>
                  <a:close/>
                </a:path>
              </a:pathLst>
            </a:custGeom>
            <a:solidFill>
              <a:srgbClr val="C1DFFF">
                <a:alpha val="64706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529290" cy="626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193135" y="3873524"/>
            <a:ext cx="4390071" cy="1528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6999" spc="-293">
                <a:solidFill>
                  <a:srgbClr val="0072FF"/>
                </a:solidFill>
                <a:latin typeface="Roca Two"/>
                <a:ea typeface="Roca Two"/>
                <a:cs typeface="Roca Two"/>
                <a:sym typeface="Roca Two"/>
              </a:rPr>
              <a:t>48 tools</a:t>
            </a:r>
          </a:p>
          <a:p>
            <a:pPr algn="l">
              <a:lnSpc>
                <a:spcPts val="573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193135" y="4612212"/>
            <a:ext cx="5429833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accessed by the average student each year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1006921" y="6067449"/>
            <a:ext cx="5806521" cy="2196585"/>
            <a:chOff x="0" y="0"/>
            <a:chExt cx="1529290" cy="5785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9290" cy="578525"/>
            </a:xfrm>
            <a:custGeom>
              <a:avLst/>
              <a:gdLst/>
              <a:ahLst/>
              <a:cxnLst/>
              <a:rect r="r" b="b" t="t" l="l"/>
              <a:pathLst>
                <a:path h="578525" w="1529290">
                  <a:moveTo>
                    <a:pt x="16000" y="0"/>
                  </a:moveTo>
                  <a:lnTo>
                    <a:pt x="1513290" y="0"/>
                  </a:lnTo>
                  <a:cubicBezTo>
                    <a:pt x="1517533" y="0"/>
                    <a:pt x="1521603" y="1686"/>
                    <a:pt x="1524603" y="4686"/>
                  </a:cubicBezTo>
                  <a:cubicBezTo>
                    <a:pt x="1527604" y="7687"/>
                    <a:pt x="1529290" y="11756"/>
                    <a:pt x="1529290" y="16000"/>
                  </a:cubicBezTo>
                  <a:lnTo>
                    <a:pt x="1529290" y="562525"/>
                  </a:lnTo>
                  <a:cubicBezTo>
                    <a:pt x="1529290" y="571361"/>
                    <a:pt x="1522126" y="578525"/>
                    <a:pt x="1513290" y="578525"/>
                  </a:cubicBezTo>
                  <a:lnTo>
                    <a:pt x="16000" y="578525"/>
                  </a:lnTo>
                  <a:cubicBezTo>
                    <a:pt x="7163" y="578525"/>
                    <a:pt x="0" y="571361"/>
                    <a:pt x="0" y="562525"/>
                  </a:cubicBezTo>
                  <a:lnTo>
                    <a:pt x="0" y="16000"/>
                  </a:lnTo>
                  <a:cubicBezTo>
                    <a:pt x="0" y="7163"/>
                    <a:pt x="7163" y="0"/>
                    <a:pt x="16000" y="0"/>
                  </a:cubicBezTo>
                  <a:close/>
                </a:path>
              </a:pathLst>
            </a:custGeom>
            <a:solidFill>
              <a:srgbClr val="C1DFFF">
                <a:alpha val="64706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529290" cy="626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195265" y="6530107"/>
            <a:ext cx="4390071" cy="1528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6999" spc="-293">
                <a:solidFill>
                  <a:srgbClr val="0072FF"/>
                </a:solidFill>
                <a:latin typeface="Roca Two"/>
                <a:ea typeface="Roca Two"/>
                <a:cs typeface="Roca Two"/>
                <a:sym typeface="Roca Two"/>
              </a:rPr>
              <a:t>$455B+</a:t>
            </a:r>
          </a:p>
          <a:p>
            <a:pPr algn="l">
              <a:lnSpc>
                <a:spcPts val="573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193135" y="7220739"/>
            <a:ext cx="542770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spent on EdTech and tutoring globally each year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57185" y="3913759"/>
            <a:ext cx="7475801" cy="3994056"/>
            <a:chOff x="0" y="0"/>
            <a:chExt cx="9967734" cy="5325408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880464" cy="1026367"/>
              <a:chOff x="0" y="0"/>
              <a:chExt cx="1951697" cy="20273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51697" cy="202739"/>
              </a:xfrm>
              <a:custGeom>
                <a:avLst/>
                <a:gdLst/>
                <a:ahLst/>
                <a:cxnLst/>
                <a:rect r="r" b="b" t="t" l="l"/>
                <a:pathLst>
                  <a:path h="202739" w="1951697">
                    <a:moveTo>
                      <a:pt x="12537" y="0"/>
                    </a:moveTo>
                    <a:lnTo>
                      <a:pt x="1939160" y="0"/>
                    </a:lnTo>
                    <a:cubicBezTo>
                      <a:pt x="1942485" y="0"/>
                      <a:pt x="1945673" y="1321"/>
                      <a:pt x="1948025" y="3672"/>
                    </a:cubicBezTo>
                    <a:cubicBezTo>
                      <a:pt x="1950376" y="6023"/>
                      <a:pt x="1951697" y="9212"/>
                      <a:pt x="1951697" y="12537"/>
                    </a:cubicBezTo>
                    <a:lnTo>
                      <a:pt x="1951697" y="190202"/>
                    </a:lnTo>
                    <a:cubicBezTo>
                      <a:pt x="1951697" y="193527"/>
                      <a:pt x="1950376" y="196716"/>
                      <a:pt x="1948025" y="199067"/>
                    </a:cubicBezTo>
                    <a:cubicBezTo>
                      <a:pt x="1945673" y="201418"/>
                      <a:pt x="1942485" y="202739"/>
                      <a:pt x="1939160" y="202739"/>
                    </a:cubicBezTo>
                    <a:lnTo>
                      <a:pt x="12537" y="202739"/>
                    </a:lnTo>
                    <a:cubicBezTo>
                      <a:pt x="9212" y="202739"/>
                      <a:pt x="6023" y="201418"/>
                      <a:pt x="3672" y="199067"/>
                    </a:cubicBezTo>
                    <a:cubicBezTo>
                      <a:pt x="1321" y="196716"/>
                      <a:pt x="0" y="193527"/>
                      <a:pt x="0" y="190202"/>
                    </a:cubicBezTo>
                    <a:lnTo>
                      <a:pt x="0" y="12537"/>
                    </a:lnTo>
                    <a:cubicBezTo>
                      <a:pt x="0" y="9212"/>
                      <a:pt x="1321" y="6023"/>
                      <a:pt x="3672" y="3672"/>
                    </a:cubicBezTo>
                    <a:cubicBezTo>
                      <a:pt x="6023" y="1321"/>
                      <a:pt x="9212" y="0"/>
                      <a:pt x="12537" y="0"/>
                    </a:cubicBezTo>
                    <a:close/>
                  </a:path>
                </a:pathLst>
              </a:custGeom>
              <a:solidFill>
                <a:srgbClr val="C1DFFF">
                  <a:alpha val="64706"/>
                </a:srgbClr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1951697" cy="2503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8108" y="2098479"/>
              <a:ext cx="9880464" cy="1026367"/>
              <a:chOff x="0" y="0"/>
              <a:chExt cx="1951697" cy="20273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51697" cy="202739"/>
              </a:xfrm>
              <a:custGeom>
                <a:avLst/>
                <a:gdLst/>
                <a:ahLst/>
                <a:cxnLst/>
                <a:rect r="r" b="b" t="t" l="l"/>
                <a:pathLst>
                  <a:path h="202739" w="1951697">
                    <a:moveTo>
                      <a:pt x="12537" y="0"/>
                    </a:moveTo>
                    <a:lnTo>
                      <a:pt x="1939160" y="0"/>
                    </a:lnTo>
                    <a:cubicBezTo>
                      <a:pt x="1942485" y="0"/>
                      <a:pt x="1945673" y="1321"/>
                      <a:pt x="1948025" y="3672"/>
                    </a:cubicBezTo>
                    <a:cubicBezTo>
                      <a:pt x="1950376" y="6023"/>
                      <a:pt x="1951697" y="9212"/>
                      <a:pt x="1951697" y="12537"/>
                    </a:cubicBezTo>
                    <a:lnTo>
                      <a:pt x="1951697" y="190202"/>
                    </a:lnTo>
                    <a:cubicBezTo>
                      <a:pt x="1951697" y="193527"/>
                      <a:pt x="1950376" y="196716"/>
                      <a:pt x="1948025" y="199067"/>
                    </a:cubicBezTo>
                    <a:cubicBezTo>
                      <a:pt x="1945673" y="201418"/>
                      <a:pt x="1942485" y="202739"/>
                      <a:pt x="1939160" y="202739"/>
                    </a:cubicBezTo>
                    <a:lnTo>
                      <a:pt x="12537" y="202739"/>
                    </a:lnTo>
                    <a:cubicBezTo>
                      <a:pt x="9212" y="202739"/>
                      <a:pt x="6023" y="201418"/>
                      <a:pt x="3672" y="199067"/>
                    </a:cubicBezTo>
                    <a:cubicBezTo>
                      <a:pt x="1321" y="196716"/>
                      <a:pt x="0" y="193527"/>
                      <a:pt x="0" y="190202"/>
                    </a:cubicBezTo>
                    <a:lnTo>
                      <a:pt x="0" y="12537"/>
                    </a:lnTo>
                    <a:cubicBezTo>
                      <a:pt x="0" y="9212"/>
                      <a:pt x="1321" y="6023"/>
                      <a:pt x="3672" y="3672"/>
                    </a:cubicBezTo>
                    <a:cubicBezTo>
                      <a:pt x="6023" y="1321"/>
                      <a:pt x="9212" y="0"/>
                      <a:pt x="12537" y="0"/>
                    </a:cubicBezTo>
                    <a:close/>
                  </a:path>
                </a:pathLst>
              </a:custGeom>
              <a:solidFill>
                <a:srgbClr val="C1DFFF">
                  <a:alpha val="64706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1951697" cy="2503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28108" y="4115446"/>
              <a:ext cx="9880464" cy="1026367"/>
              <a:chOff x="0" y="0"/>
              <a:chExt cx="1951697" cy="20273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51697" cy="202739"/>
              </a:xfrm>
              <a:custGeom>
                <a:avLst/>
                <a:gdLst/>
                <a:ahLst/>
                <a:cxnLst/>
                <a:rect r="r" b="b" t="t" l="l"/>
                <a:pathLst>
                  <a:path h="202739" w="1951697">
                    <a:moveTo>
                      <a:pt x="12537" y="0"/>
                    </a:moveTo>
                    <a:lnTo>
                      <a:pt x="1939160" y="0"/>
                    </a:lnTo>
                    <a:cubicBezTo>
                      <a:pt x="1942485" y="0"/>
                      <a:pt x="1945673" y="1321"/>
                      <a:pt x="1948025" y="3672"/>
                    </a:cubicBezTo>
                    <a:cubicBezTo>
                      <a:pt x="1950376" y="6023"/>
                      <a:pt x="1951697" y="9212"/>
                      <a:pt x="1951697" y="12537"/>
                    </a:cubicBezTo>
                    <a:lnTo>
                      <a:pt x="1951697" y="190202"/>
                    </a:lnTo>
                    <a:cubicBezTo>
                      <a:pt x="1951697" y="193527"/>
                      <a:pt x="1950376" y="196716"/>
                      <a:pt x="1948025" y="199067"/>
                    </a:cubicBezTo>
                    <a:cubicBezTo>
                      <a:pt x="1945673" y="201418"/>
                      <a:pt x="1942485" y="202739"/>
                      <a:pt x="1939160" y="202739"/>
                    </a:cubicBezTo>
                    <a:lnTo>
                      <a:pt x="12537" y="202739"/>
                    </a:lnTo>
                    <a:cubicBezTo>
                      <a:pt x="9212" y="202739"/>
                      <a:pt x="6023" y="201418"/>
                      <a:pt x="3672" y="199067"/>
                    </a:cubicBezTo>
                    <a:cubicBezTo>
                      <a:pt x="1321" y="196716"/>
                      <a:pt x="0" y="193527"/>
                      <a:pt x="0" y="190202"/>
                    </a:cubicBezTo>
                    <a:lnTo>
                      <a:pt x="0" y="12537"/>
                    </a:lnTo>
                    <a:cubicBezTo>
                      <a:pt x="0" y="9212"/>
                      <a:pt x="1321" y="6023"/>
                      <a:pt x="3672" y="3672"/>
                    </a:cubicBezTo>
                    <a:cubicBezTo>
                      <a:pt x="6023" y="1321"/>
                      <a:pt x="9212" y="0"/>
                      <a:pt x="12537" y="0"/>
                    </a:cubicBezTo>
                    <a:close/>
                  </a:path>
                </a:pathLst>
              </a:custGeom>
              <a:solidFill>
                <a:srgbClr val="C1DFFF">
                  <a:alpha val="64706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1951697" cy="2503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8108" y="380039"/>
              <a:ext cx="9824248" cy="827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5"/>
                </a:lnSpc>
              </a:pPr>
              <a:r>
                <a:rPr lang="en-US" sz="2799" spc="-111">
                  <a:solidFill>
                    <a:srgbClr val="000000"/>
                  </a:solidFill>
                  <a:latin typeface="Roca Two"/>
                  <a:ea typeface="Roca Two"/>
                  <a:cs typeface="Roca Two"/>
                  <a:sym typeface="Roca Two"/>
                </a:rPr>
                <a:t>One study session. Five disconnected products.</a:t>
              </a:r>
            </a:p>
            <a:p>
              <a:pPr algn="ctr">
                <a:lnSpc>
                  <a:spcPts val="2295"/>
                </a:lnSpc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43486" y="2437767"/>
              <a:ext cx="9824248" cy="827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5"/>
                </a:lnSpc>
              </a:pPr>
              <a:r>
                <a:rPr lang="en-US" sz="2799" spc="-111">
                  <a:solidFill>
                    <a:srgbClr val="000000"/>
                  </a:solidFill>
                  <a:latin typeface="Roca Two"/>
                  <a:ea typeface="Roca Two"/>
                  <a:cs typeface="Roca Two"/>
                  <a:sym typeface="Roca Two"/>
                </a:rPr>
                <a:t>AI sits outside the student’s work.</a:t>
              </a:r>
            </a:p>
            <a:p>
              <a:pPr algn="ctr">
                <a:lnSpc>
                  <a:spcPts val="2295"/>
                </a:lnSpc>
              </a:pP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43486" y="4497537"/>
              <a:ext cx="9824248" cy="827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5"/>
                </a:lnSpc>
              </a:pPr>
              <a:r>
                <a:rPr lang="en-US" sz="2799" spc="-111">
                  <a:solidFill>
                    <a:srgbClr val="000000"/>
                  </a:solidFill>
                  <a:latin typeface="Roca Two"/>
                  <a:ea typeface="Roca Two"/>
                  <a:cs typeface="Roca Two"/>
                  <a:sym typeface="Roca Two"/>
                </a:rPr>
                <a:t>EdTech uses the wrong interface for STEM.</a:t>
              </a:r>
            </a:p>
            <a:p>
              <a:pPr algn="ctr">
                <a:lnSpc>
                  <a:spcPts val="2295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304298" y="1162050"/>
            <a:ext cx="8170646" cy="74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6"/>
              </a:lnSpc>
            </a:pPr>
            <a:r>
              <a:rPr lang="en-US" b="true" sz="5600" spc="-61">
                <a:solidFill>
                  <a:srgbClr val="0072FF"/>
                </a:solidFill>
                <a:latin typeface="Roca Two Bold"/>
                <a:ea typeface="Roca Two Bold"/>
                <a:cs typeface="Roca Two Bold"/>
                <a:sym typeface="Roca Two Bold"/>
              </a:rPr>
              <a:t>Learning is fragmented.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5451452" y="181892"/>
            <a:ext cx="2300673" cy="2300673"/>
          </a:xfrm>
          <a:custGeom>
            <a:avLst/>
            <a:gdLst/>
            <a:ahLst/>
            <a:cxnLst/>
            <a:rect r="r" b="b" t="t" l="l"/>
            <a:pathLst>
              <a:path h="2300673" w="2300673">
                <a:moveTo>
                  <a:pt x="0" y="0"/>
                </a:moveTo>
                <a:lnTo>
                  <a:pt x="2300673" y="0"/>
                </a:lnTo>
                <a:lnTo>
                  <a:pt x="2300673" y="2300674"/>
                </a:lnTo>
                <a:lnTo>
                  <a:pt x="0" y="23006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21081" y="11858"/>
            <a:ext cx="18266919" cy="102751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63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5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6010563" y="691810"/>
            <a:ext cx="1477167" cy="1641296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377192" y="708723"/>
            <a:ext cx="7552667" cy="74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6"/>
              </a:lnSpc>
            </a:pPr>
            <a:r>
              <a:rPr lang="en-US" sz="5600" spc="-61" b="true">
                <a:solidFill>
                  <a:srgbClr val="0072FF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Alma sees eve</a:t>
            </a:r>
            <a:r>
              <a:rPr lang="en-US" b="true" sz="5600" spc="-61">
                <a:solidFill>
                  <a:srgbClr val="0072FF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rything.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03268" y="1453452"/>
            <a:ext cx="12300513" cy="1111586"/>
            <a:chOff x="0" y="0"/>
            <a:chExt cx="3239641" cy="2927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39641" cy="292763"/>
            </a:xfrm>
            <a:custGeom>
              <a:avLst/>
              <a:gdLst/>
              <a:ahLst/>
              <a:cxnLst/>
              <a:rect r="r" b="b" t="t" l="l"/>
              <a:pathLst>
                <a:path h="292763" w="3239641">
                  <a:moveTo>
                    <a:pt x="7553" y="0"/>
                  </a:moveTo>
                  <a:lnTo>
                    <a:pt x="3232089" y="0"/>
                  </a:lnTo>
                  <a:cubicBezTo>
                    <a:pt x="3234092" y="0"/>
                    <a:pt x="3236013" y="796"/>
                    <a:pt x="3237429" y="2212"/>
                  </a:cubicBezTo>
                  <a:cubicBezTo>
                    <a:pt x="3238846" y="3629"/>
                    <a:pt x="3239641" y="5550"/>
                    <a:pt x="3239641" y="7553"/>
                  </a:cubicBezTo>
                  <a:lnTo>
                    <a:pt x="3239641" y="285211"/>
                  </a:lnTo>
                  <a:cubicBezTo>
                    <a:pt x="3239641" y="287214"/>
                    <a:pt x="3238846" y="289135"/>
                    <a:pt x="3237429" y="290551"/>
                  </a:cubicBezTo>
                  <a:cubicBezTo>
                    <a:pt x="3236013" y="291968"/>
                    <a:pt x="3234092" y="292763"/>
                    <a:pt x="3232089" y="292763"/>
                  </a:cubicBezTo>
                  <a:lnTo>
                    <a:pt x="7553" y="292763"/>
                  </a:lnTo>
                  <a:cubicBezTo>
                    <a:pt x="5550" y="292763"/>
                    <a:pt x="3629" y="291968"/>
                    <a:pt x="2212" y="290551"/>
                  </a:cubicBezTo>
                  <a:cubicBezTo>
                    <a:pt x="796" y="289135"/>
                    <a:pt x="0" y="287214"/>
                    <a:pt x="0" y="285211"/>
                  </a:cubicBezTo>
                  <a:lnTo>
                    <a:pt x="0" y="7553"/>
                  </a:lnTo>
                  <a:cubicBezTo>
                    <a:pt x="0" y="5550"/>
                    <a:pt x="796" y="3629"/>
                    <a:pt x="2212" y="2212"/>
                  </a:cubicBezTo>
                  <a:cubicBezTo>
                    <a:pt x="3629" y="796"/>
                    <a:pt x="5550" y="0"/>
                    <a:pt x="7553" y="0"/>
                  </a:cubicBezTo>
                  <a:close/>
                </a:path>
              </a:pathLst>
            </a:custGeom>
            <a:solidFill>
              <a:srgbClr val="C1DFFF">
                <a:alpha val="6470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239641" cy="340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124794" y="1649211"/>
            <a:ext cx="12178988" cy="132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3000" spc="-1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</a:t>
            </a:r>
            <a:r>
              <a:rPr lang="en-US" sz="3000" spc="-1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lma reads your handwritten working, marks every step and teaches directly on the page.</a:t>
            </a:r>
          </a:p>
          <a:p>
            <a:pPr algn="ctr">
              <a:lnSpc>
                <a:spcPts val="348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285302" y="2811519"/>
            <a:ext cx="9379749" cy="6847186"/>
          </a:xfrm>
          <a:custGeom>
            <a:avLst/>
            <a:gdLst/>
            <a:ahLst/>
            <a:cxnLst/>
            <a:rect r="r" b="b" t="t" l="l"/>
            <a:pathLst>
              <a:path h="6847186" w="9379749">
                <a:moveTo>
                  <a:pt x="0" y="0"/>
                </a:moveTo>
                <a:lnTo>
                  <a:pt x="9379749" y="0"/>
                </a:lnTo>
                <a:lnTo>
                  <a:pt x="9379749" y="6847186"/>
                </a:lnTo>
                <a:lnTo>
                  <a:pt x="0" y="68471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4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6010563" y="691810"/>
            <a:ext cx="1477167" cy="1641296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259766" y="708723"/>
            <a:ext cx="13768469" cy="74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6"/>
              </a:lnSpc>
            </a:pPr>
            <a:r>
              <a:rPr lang="en-US" sz="5600" spc="-61" b="true">
                <a:solidFill>
                  <a:srgbClr val="0072FF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Every answer changes what comes nex</a:t>
            </a:r>
            <a:r>
              <a:rPr lang="en-US" b="true" sz="5600" spc="-61">
                <a:solidFill>
                  <a:srgbClr val="0072FF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993743" y="1453452"/>
            <a:ext cx="12300513" cy="1212031"/>
            <a:chOff x="0" y="0"/>
            <a:chExt cx="3239641" cy="3192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39641" cy="319218"/>
            </a:xfrm>
            <a:custGeom>
              <a:avLst/>
              <a:gdLst/>
              <a:ahLst/>
              <a:cxnLst/>
              <a:rect r="r" b="b" t="t" l="l"/>
              <a:pathLst>
                <a:path h="319218" w="3239641">
                  <a:moveTo>
                    <a:pt x="7553" y="0"/>
                  </a:moveTo>
                  <a:lnTo>
                    <a:pt x="3232089" y="0"/>
                  </a:lnTo>
                  <a:cubicBezTo>
                    <a:pt x="3234092" y="0"/>
                    <a:pt x="3236013" y="796"/>
                    <a:pt x="3237429" y="2212"/>
                  </a:cubicBezTo>
                  <a:cubicBezTo>
                    <a:pt x="3238846" y="3629"/>
                    <a:pt x="3239641" y="5550"/>
                    <a:pt x="3239641" y="7553"/>
                  </a:cubicBezTo>
                  <a:lnTo>
                    <a:pt x="3239641" y="311665"/>
                  </a:lnTo>
                  <a:cubicBezTo>
                    <a:pt x="3239641" y="313668"/>
                    <a:pt x="3238846" y="315589"/>
                    <a:pt x="3237429" y="317006"/>
                  </a:cubicBezTo>
                  <a:cubicBezTo>
                    <a:pt x="3236013" y="318422"/>
                    <a:pt x="3234092" y="319218"/>
                    <a:pt x="3232089" y="319218"/>
                  </a:cubicBezTo>
                  <a:lnTo>
                    <a:pt x="7553" y="319218"/>
                  </a:lnTo>
                  <a:cubicBezTo>
                    <a:pt x="5550" y="319218"/>
                    <a:pt x="3629" y="318422"/>
                    <a:pt x="2212" y="317006"/>
                  </a:cubicBezTo>
                  <a:cubicBezTo>
                    <a:pt x="796" y="315589"/>
                    <a:pt x="0" y="313668"/>
                    <a:pt x="0" y="311665"/>
                  </a:cubicBezTo>
                  <a:lnTo>
                    <a:pt x="0" y="7553"/>
                  </a:lnTo>
                  <a:cubicBezTo>
                    <a:pt x="0" y="5550"/>
                    <a:pt x="796" y="3629"/>
                    <a:pt x="2212" y="2212"/>
                  </a:cubicBezTo>
                  <a:cubicBezTo>
                    <a:pt x="3629" y="796"/>
                    <a:pt x="5550" y="0"/>
                    <a:pt x="7553" y="0"/>
                  </a:cubicBezTo>
                  <a:close/>
                </a:path>
              </a:pathLst>
            </a:custGeom>
            <a:solidFill>
              <a:srgbClr val="C1DFFF">
                <a:alpha val="6470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239641" cy="366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115269" y="1677908"/>
            <a:ext cx="12178988" cy="132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 spc="-1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</a:t>
            </a:r>
            <a:r>
              <a:rPr lang="en-US" sz="3000" spc="-1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lma learns what you know, what you struggle with and chooses what you should practise next.</a:t>
            </a:r>
          </a:p>
          <a:p>
            <a:pPr algn="ctr">
              <a:lnSpc>
                <a:spcPts val="347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695298" y="2815869"/>
            <a:ext cx="9626668" cy="7061418"/>
          </a:xfrm>
          <a:custGeom>
            <a:avLst/>
            <a:gdLst/>
            <a:ahLst/>
            <a:cxnLst/>
            <a:rect r="r" b="b" t="t" l="l"/>
            <a:pathLst>
              <a:path h="7061418" w="9626668">
                <a:moveTo>
                  <a:pt x="0" y="0"/>
                </a:moveTo>
                <a:lnTo>
                  <a:pt x="9626668" y="0"/>
                </a:lnTo>
                <a:lnTo>
                  <a:pt x="9626668" y="7061418"/>
                </a:lnTo>
                <a:lnTo>
                  <a:pt x="0" y="706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245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6010563" y="691810"/>
            <a:ext cx="1477167" cy="1641296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409213" y="708723"/>
            <a:ext cx="5469574" cy="74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6"/>
              </a:lnSpc>
            </a:pPr>
            <a:r>
              <a:rPr lang="en-US" sz="5600" spc="-61" b="true">
                <a:solidFill>
                  <a:srgbClr val="0072FF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Lea</a:t>
            </a:r>
            <a:r>
              <a:rPr lang="en-US" b="true" sz="5600" spc="-61">
                <a:solidFill>
                  <a:srgbClr val="0072FF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rn anything.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993743" y="1453452"/>
            <a:ext cx="12300513" cy="1177510"/>
            <a:chOff x="0" y="0"/>
            <a:chExt cx="3239641" cy="3101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39641" cy="310126"/>
            </a:xfrm>
            <a:custGeom>
              <a:avLst/>
              <a:gdLst/>
              <a:ahLst/>
              <a:cxnLst/>
              <a:rect r="r" b="b" t="t" l="l"/>
              <a:pathLst>
                <a:path h="310126" w="3239641">
                  <a:moveTo>
                    <a:pt x="7553" y="0"/>
                  </a:moveTo>
                  <a:lnTo>
                    <a:pt x="3232089" y="0"/>
                  </a:lnTo>
                  <a:cubicBezTo>
                    <a:pt x="3234092" y="0"/>
                    <a:pt x="3236013" y="796"/>
                    <a:pt x="3237429" y="2212"/>
                  </a:cubicBezTo>
                  <a:cubicBezTo>
                    <a:pt x="3238846" y="3629"/>
                    <a:pt x="3239641" y="5550"/>
                    <a:pt x="3239641" y="7553"/>
                  </a:cubicBezTo>
                  <a:lnTo>
                    <a:pt x="3239641" y="302573"/>
                  </a:lnTo>
                  <a:cubicBezTo>
                    <a:pt x="3239641" y="304577"/>
                    <a:pt x="3238846" y="306498"/>
                    <a:pt x="3237429" y="307914"/>
                  </a:cubicBezTo>
                  <a:cubicBezTo>
                    <a:pt x="3236013" y="309330"/>
                    <a:pt x="3234092" y="310126"/>
                    <a:pt x="3232089" y="310126"/>
                  </a:cubicBezTo>
                  <a:lnTo>
                    <a:pt x="7553" y="310126"/>
                  </a:lnTo>
                  <a:cubicBezTo>
                    <a:pt x="5550" y="310126"/>
                    <a:pt x="3629" y="309330"/>
                    <a:pt x="2212" y="307914"/>
                  </a:cubicBezTo>
                  <a:cubicBezTo>
                    <a:pt x="796" y="306498"/>
                    <a:pt x="0" y="304577"/>
                    <a:pt x="0" y="302573"/>
                  </a:cubicBezTo>
                  <a:lnTo>
                    <a:pt x="0" y="7553"/>
                  </a:lnTo>
                  <a:cubicBezTo>
                    <a:pt x="0" y="5550"/>
                    <a:pt x="796" y="3629"/>
                    <a:pt x="2212" y="2212"/>
                  </a:cubicBezTo>
                  <a:cubicBezTo>
                    <a:pt x="3629" y="796"/>
                    <a:pt x="5550" y="0"/>
                    <a:pt x="7553" y="0"/>
                  </a:cubicBezTo>
                  <a:close/>
                </a:path>
              </a:pathLst>
            </a:custGeom>
            <a:solidFill>
              <a:srgbClr val="C1DFFF">
                <a:alpha val="6470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239641" cy="3577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115269" y="1673718"/>
            <a:ext cx="12178988" cy="132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 spc="-1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Choo</a:t>
            </a:r>
            <a:r>
              <a:rPr lang="en-US" sz="3000" spc="-1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se your subject, curriculum and difficulty. Alma builds the practice around you.</a:t>
            </a:r>
          </a:p>
          <a:p>
            <a:pPr algn="ctr">
              <a:lnSpc>
                <a:spcPts val="347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616335" y="2780256"/>
            <a:ext cx="11157981" cy="7064397"/>
          </a:xfrm>
          <a:custGeom>
            <a:avLst/>
            <a:gdLst/>
            <a:ahLst/>
            <a:cxnLst/>
            <a:rect r="r" b="b" t="t" l="l"/>
            <a:pathLst>
              <a:path h="7064397" w="11157981">
                <a:moveTo>
                  <a:pt x="0" y="0"/>
                </a:moveTo>
                <a:lnTo>
                  <a:pt x="11157981" y="0"/>
                </a:lnTo>
                <a:lnTo>
                  <a:pt x="11157981" y="7064397"/>
                </a:lnTo>
                <a:lnTo>
                  <a:pt x="0" y="70643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6010563" y="691810"/>
            <a:ext cx="1477167" cy="1641296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982476" y="721868"/>
            <a:ext cx="14323049" cy="70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3"/>
              </a:lnSpc>
            </a:pPr>
            <a:r>
              <a:rPr lang="en-US" sz="5300" spc="-58" b="true">
                <a:solidFill>
                  <a:srgbClr val="0072FF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Progress you can see. Reasons </a:t>
            </a:r>
            <a:r>
              <a:rPr lang="en-US" b="true" sz="5300" spc="-58">
                <a:solidFill>
                  <a:srgbClr val="0072FF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to come back.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993743" y="1636595"/>
            <a:ext cx="12300513" cy="1419151"/>
            <a:chOff x="0" y="0"/>
            <a:chExt cx="16400684" cy="189220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6400684" cy="1892202"/>
              <a:chOff x="0" y="0"/>
              <a:chExt cx="3239641" cy="37376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239641" cy="373768"/>
              </a:xfrm>
              <a:custGeom>
                <a:avLst/>
                <a:gdLst/>
                <a:ahLst/>
                <a:cxnLst/>
                <a:rect r="r" b="b" t="t" l="l"/>
                <a:pathLst>
                  <a:path h="373768" w="3239641">
                    <a:moveTo>
                      <a:pt x="7553" y="0"/>
                    </a:moveTo>
                    <a:lnTo>
                      <a:pt x="3232089" y="0"/>
                    </a:lnTo>
                    <a:cubicBezTo>
                      <a:pt x="3234092" y="0"/>
                      <a:pt x="3236013" y="796"/>
                      <a:pt x="3237429" y="2212"/>
                    </a:cubicBezTo>
                    <a:cubicBezTo>
                      <a:pt x="3238846" y="3629"/>
                      <a:pt x="3239641" y="5550"/>
                      <a:pt x="3239641" y="7553"/>
                    </a:cubicBezTo>
                    <a:lnTo>
                      <a:pt x="3239641" y="366216"/>
                    </a:lnTo>
                    <a:cubicBezTo>
                      <a:pt x="3239641" y="368219"/>
                      <a:pt x="3238846" y="370140"/>
                      <a:pt x="3237429" y="371556"/>
                    </a:cubicBezTo>
                    <a:cubicBezTo>
                      <a:pt x="3236013" y="372973"/>
                      <a:pt x="3234092" y="373768"/>
                      <a:pt x="3232089" y="373768"/>
                    </a:cubicBezTo>
                    <a:lnTo>
                      <a:pt x="7553" y="373768"/>
                    </a:lnTo>
                    <a:cubicBezTo>
                      <a:pt x="5550" y="373768"/>
                      <a:pt x="3629" y="372973"/>
                      <a:pt x="2212" y="371556"/>
                    </a:cubicBezTo>
                    <a:cubicBezTo>
                      <a:pt x="796" y="370140"/>
                      <a:pt x="0" y="368219"/>
                      <a:pt x="0" y="366216"/>
                    </a:cubicBezTo>
                    <a:lnTo>
                      <a:pt x="0" y="7553"/>
                    </a:lnTo>
                    <a:cubicBezTo>
                      <a:pt x="0" y="5550"/>
                      <a:pt x="796" y="3629"/>
                      <a:pt x="2212" y="2212"/>
                    </a:cubicBezTo>
                    <a:cubicBezTo>
                      <a:pt x="3629" y="796"/>
                      <a:pt x="5550" y="0"/>
                      <a:pt x="7553" y="0"/>
                    </a:cubicBezTo>
                    <a:close/>
                  </a:path>
                </a:pathLst>
              </a:custGeom>
              <a:solidFill>
                <a:srgbClr val="C1DFFF">
                  <a:alpha val="64706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3239641" cy="4213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81017" y="713007"/>
              <a:ext cx="16238650" cy="1179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79"/>
                </a:lnSpc>
              </a:pPr>
              <a:r>
                <a:rPr lang="en-US" sz="3000" spc="-120">
                  <a:solidFill>
                    <a:srgbClr val="000000"/>
                  </a:solidFill>
                  <a:latin typeface="Roca Two"/>
                  <a:ea typeface="Roca Two"/>
                  <a:cs typeface="Roca Two"/>
                  <a:sym typeface="Roca Two"/>
                </a:rPr>
                <a:t>A</a:t>
              </a:r>
              <a:r>
                <a:rPr lang="en-US" sz="3000" spc="-120">
                  <a:solidFill>
                    <a:srgbClr val="000000"/>
                  </a:solidFill>
                  <a:latin typeface="Roca Two"/>
                  <a:ea typeface="Roca Two"/>
                  <a:cs typeface="Roca Two"/>
                  <a:sym typeface="Roca Two"/>
                </a:rPr>
                <a:t>lma turns academic progress into a game students want to keep playing.</a:t>
              </a:r>
            </a:p>
            <a:p>
              <a:pPr algn="ctr">
                <a:lnSpc>
                  <a:spcPts val="3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2193" y="3561704"/>
            <a:ext cx="16763614" cy="5848412"/>
            <a:chOff x="0" y="0"/>
            <a:chExt cx="22351485" cy="77978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57451" cy="7797883"/>
            </a:xfrm>
            <a:custGeom>
              <a:avLst/>
              <a:gdLst/>
              <a:ahLst/>
              <a:cxnLst/>
              <a:rect r="r" b="b" t="t" l="l"/>
              <a:pathLst>
                <a:path h="7797883" w="11357451">
                  <a:moveTo>
                    <a:pt x="0" y="0"/>
                  </a:moveTo>
                  <a:lnTo>
                    <a:pt x="11357451" y="0"/>
                  </a:lnTo>
                  <a:lnTo>
                    <a:pt x="11357451" y="7797883"/>
                  </a:lnTo>
                  <a:lnTo>
                    <a:pt x="0" y="7797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91" t="0" r="-391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357451" y="0"/>
              <a:ext cx="10994034" cy="7797883"/>
            </a:xfrm>
            <a:custGeom>
              <a:avLst/>
              <a:gdLst/>
              <a:ahLst/>
              <a:cxnLst/>
              <a:rect r="r" b="b" t="t" l="l"/>
              <a:pathLst>
                <a:path h="7797883" w="10994034">
                  <a:moveTo>
                    <a:pt x="0" y="0"/>
                  </a:moveTo>
                  <a:lnTo>
                    <a:pt x="10994034" y="0"/>
                  </a:lnTo>
                  <a:lnTo>
                    <a:pt x="10994034" y="7797883"/>
                  </a:lnTo>
                  <a:lnTo>
                    <a:pt x="0" y="7797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574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85192" y="832548"/>
            <a:ext cx="9594027" cy="74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56"/>
              </a:lnSpc>
            </a:pPr>
            <a:r>
              <a:rPr lang="en-US" b="true" sz="5600" spc="-61">
                <a:solidFill>
                  <a:srgbClr val="0072FF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Your notes. Compl</a:t>
            </a:r>
            <a:r>
              <a:rPr lang="en-US" b="true" sz="5600" spc="-61">
                <a:solidFill>
                  <a:srgbClr val="0072FF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etely free.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065248" y="1692736"/>
            <a:ext cx="10833914" cy="1280740"/>
            <a:chOff x="0" y="0"/>
            <a:chExt cx="2853376" cy="3373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53376" cy="337314"/>
            </a:xfrm>
            <a:custGeom>
              <a:avLst/>
              <a:gdLst/>
              <a:ahLst/>
              <a:cxnLst/>
              <a:rect r="r" b="b" t="t" l="l"/>
              <a:pathLst>
                <a:path h="337314" w="2853376">
                  <a:moveTo>
                    <a:pt x="8575" y="0"/>
                  </a:moveTo>
                  <a:lnTo>
                    <a:pt x="2844801" y="0"/>
                  </a:lnTo>
                  <a:cubicBezTo>
                    <a:pt x="2849537" y="0"/>
                    <a:pt x="2853376" y="3839"/>
                    <a:pt x="2853376" y="8575"/>
                  </a:cubicBezTo>
                  <a:lnTo>
                    <a:pt x="2853376" y="328739"/>
                  </a:lnTo>
                  <a:cubicBezTo>
                    <a:pt x="2853376" y="333475"/>
                    <a:pt x="2849537" y="337314"/>
                    <a:pt x="2844801" y="337314"/>
                  </a:cubicBezTo>
                  <a:lnTo>
                    <a:pt x="8575" y="337314"/>
                  </a:lnTo>
                  <a:cubicBezTo>
                    <a:pt x="3839" y="337314"/>
                    <a:pt x="0" y="333475"/>
                    <a:pt x="0" y="328739"/>
                  </a:cubicBezTo>
                  <a:lnTo>
                    <a:pt x="0" y="8575"/>
                  </a:lnTo>
                  <a:cubicBezTo>
                    <a:pt x="0" y="3839"/>
                    <a:pt x="3839" y="0"/>
                    <a:pt x="8575" y="0"/>
                  </a:cubicBezTo>
                  <a:close/>
                </a:path>
              </a:pathLst>
            </a:custGeom>
            <a:solidFill>
              <a:srgbClr val="C1DFFF">
                <a:alpha val="6470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853376" cy="384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962199" y="2088314"/>
            <a:ext cx="9040013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sz="3000" spc="-11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 Come for the free notes, stay for the learning system.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07722" y="3383397"/>
            <a:ext cx="16672555" cy="6121578"/>
            <a:chOff x="0" y="0"/>
            <a:chExt cx="22230074" cy="81621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68218" cy="8162104"/>
            </a:xfrm>
            <a:custGeom>
              <a:avLst/>
              <a:gdLst/>
              <a:ahLst/>
              <a:cxnLst/>
              <a:rect r="r" b="b" t="t" l="l"/>
              <a:pathLst>
                <a:path h="8162104" w="11168218">
                  <a:moveTo>
                    <a:pt x="0" y="0"/>
                  </a:moveTo>
                  <a:lnTo>
                    <a:pt x="11168218" y="0"/>
                  </a:lnTo>
                  <a:lnTo>
                    <a:pt x="11168218" y="8162104"/>
                  </a:lnTo>
                  <a:lnTo>
                    <a:pt x="0" y="8162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4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1168218" y="0"/>
              <a:ext cx="11061856" cy="8162104"/>
            </a:xfrm>
            <a:custGeom>
              <a:avLst/>
              <a:gdLst/>
              <a:ahLst/>
              <a:cxnLst/>
              <a:rect r="r" b="b" t="t" l="l"/>
              <a:pathLst>
                <a:path h="8162104" w="11061856">
                  <a:moveTo>
                    <a:pt x="0" y="0"/>
                  </a:moveTo>
                  <a:lnTo>
                    <a:pt x="11061856" y="0"/>
                  </a:lnTo>
                  <a:lnTo>
                    <a:pt x="11061856" y="8162104"/>
                  </a:lnTo>
                  <a:lnTo>
                    <a:pt x="0" y="8162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2" t="0" r="-292" b="-2077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672267" y="153317"/>
            <a:ext cx="2300673" cy="2300673"/>
          </a:xfrm>
          <a:custGeom>
            <a:avLst/>
            <a:gdLst/>
            <a:ahLst/>
            <a:cxnLst/>
            <a:rect r="r" b="b" t="t" l="l"/>
            <a:pathLst>
              <a:path h="2300673" w="2300673">
                <a:moveTo>
                  <a:pt x="0" y="0"/>
                </a:moveTo>
                <a:lnTo>
                  <a:pt x="2300673" y="0"/>
                </a:lnTo>
                <a:lnTo>
                  <a:pt x="2300673" y="2300674"/>
                </a:lnTo>
                <a:lnTo>
                  <a:pt x="0" y="2300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9618" y="884126"/>
            <a:ext cx="17051074" cy="145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6"/>
              </a:lnSpc>
            </a:pPr>
            <a:r>
              <a:rPr lang="en-US" b="true" sz="5600" spc="-61">
                <a:solidFill>
                  <a:srgbClr val="0072FF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I was the user.</a:t>
            </a:r>
          </a:p>
          <a:p>
            <a:pPr algn="ctr">
              <a:lnSpc>
                <a:spcPts val="5656"/>
              </a:lnSpc>
            </a:pPr>
            <a:r>
              <a:rPr lang="en-US" b="true" sz="5600" spc="-61">
                <a:solidFill>
                  <a:srgbClr val="0072FF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Then I became the builder.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416640" y="3267154"/>
            <a:ext cx="7410348" cy="769775"/>
            <a:chOff x="0" y="0"/>
            <a:chExt cx="1951697" cy="2027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1697" cy="202739"/>
            </a:xfrm>
            <a:custGeom>
              <a:avLst/>
              <a:gdLst/>
              <a:ahLst/>
              <a:cxnLst/>
              <a:rect r="r" b="b" t="t" l="l"/>
              <a:pathLst>
                <a:path h="202739" w="1951697">
                  <a:moveTo>
                    <a:pt x="12537" y="0"/>
                  </a:moveTo>
                  <a:lnTo>
                    <a:pt x="1939160" y="0"/>
                  </a:lnTo>
                  <a:cubicBezTo>
                    <a:pt x="1942485" y="0"/>
                    <a:pt x="1945673" y="1321"/>
                    <a:pt x="1948025" y="3672"/>
                  </a:cubicBezTo>
                  <a:cubicBezTo>
                    <a:pt x="1950376" y="6023"/>
                    <a:pt x="1951697" y="9212"/>
                    <a:pt x="1951697" y="12537"/>
                  </a:cubicBezTo>
                  <a:lnTo>
                    <a:pt x="1951697" y="190202"/>
                  </a:lnTo>
                  <a:cubicBezTo>
                    <a:pt x="1951697" y="193527"/>
                    <a:pt x="1950376" y="196716"/>
                    <a:pt x="1948025" y="199067"/>
                  </a:cubicBezTo>
                  <a:cubicBezTo>
                    <a:pt x="1945673" y="201418"/>
                    <a:pt x="1942485" y="202739"/>
                    <a:pt x="1939160" y="202739"/>
                  </a:cubicBezTo>
                  <a:lnTo>
                    <a:pt x="12537" y="202739"/>
                  </a:lnTo>
                  <a:cubicBezTo>
                    <a:pt x="9212" y="202739"/>
                    <a:pt x="6023" y="201418"/>
                    <a:pt x="3672" y="199067"/>
                  </a:cubicBezTo>
                  <a:cubicBezTo>
                    <a:pt x="1321" y="196716"/>
                    <a:pt x="0" y="193527"/>
                    <a:pt x="0" y="190202"/>
                  </a:cubicBezTo>
                  <a:lnTo>
                    <a:pt x="0" y="12537"/>
                  </a:lnTo>
                  <a:cubicBezTo>
                    <a:pt x="0" y="9212"/>
                    <a:pt x="1321" y="6023"/>
                    <a:pt x="3672" y="3672"/>
                  </a:cubicBezTo>
                  <a:cubicBezTo>
                    <a:pt x="6023" y="1321"/>
                    <a:pt x="9212" y="0"/>
                    <a:pt x="12537" y="0"/>
                  </a:cubicBezTo>
                  <a:close/>
                </a:path>
              </a:pathLst>
            </a:custGeom>
            <a:solidFill>
              <a:srgbClr val="C1DFFF">
                <a:alpha val="6470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51697" cy="250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437721" y="3580759"/>
            <a:ext cx="7368186" cy="59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2799" spc="-111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Building for the generation I belong to</a:t>
            </a:r>
          </a:p>
          <a:p>
            <a:pPr algn="ctr">
              <a:lnSpc>
                <a:spcPts val="2295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5437721" y="4841014"/>
            <a:ext cx="7410348" cy="769775"/>
            <a:chOff x="0" y="0"/>
            <a:chExt cx="1951697" cy="2027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1697" cy="202739"/>
            </a:xfrm>
            <a:custGeom>
              <a:avLst/>
              <a:gdLst/>
              <a:ahLst/>
              <a:cxnLst/>
              <a:rect r="r" b="b" t="t" l="l"/>
              <a:pathLst>
                <a:path h="202739" w="1951697">
                  <a:moveTo>
                    <a:pt x="12537" y="0"/>
                  </a:moveTo>
                  <a:lnTo>
                    <a:pt x="1939160" y="0"/>
                  </a:lnTo>
                  <a:cubicBezTo>
                    <a:pt x="1942485" y="0"/>
                    <a:pt x="1945673" y="1321"/>
                    <a:pt x="1948025" y="3672"/>
                  </a:cubicBezTo>
                  <a:cubicBezTo>
                    <a:pt x="1950376" y="6023"/>
                    <a:pt x="1951697" y="9212"/>
                    <a:pt x="1951697" y="12537"/>
                  </a:cubicBezTo>
                  <a:lnTo>
                    <a:pt x="1951697" y="190202"/>
                  </a:lnTo>
                  <a:cubicBezTo>
                    <a:pt x="1951697" y="193527"/>
                    <a:pt x="1950376" y="196716"/>
                    <a:pt x="1948025" y="199067"/>
                  </a:cubicBezTo>
                  <a:cubicBezTo>
                    <a:pt x="1945673" y="201418"/>
                    <a:pt x="1942485" y="202739"/>
                    <a:pt x="1939160" y="202739"/>
                  </a:cubicBezTo>
                  <a:lnTo>
                    <a:pt x="12537" y="202739"/>
                  </a:lnTo>
                  <a:cubicBezTo>
                    <a:pt x="9212" y="202739"/>
                    <a:pt x="6023" y="201418"/>
                    <a:pt x="3672" y="199067"/>
                  </a:cubicBezTo>
                  <a:cubicBezTo>
                    <a:pt x="1321" y="196716"/>
                    <a:pt x="0" y="193527"/>
                    <a:pt x="0" y="190202"/>
                  </a:cubicBezTo>
                  <a:lnTo>
                    <a:pt x="0" y="12537"/>
                  </a:lnTo>
                  <a:cubicBezTo>
                    <a:pt x="0" y="9212"/>
                    <a:pt x="1321" y="6023"/>
                    <a:pt x="3672" y="3672"/>
                  </a:cubicBezTo>
                  <a:cubicBezTo>
                    <a:pt x="6023" y="1321"/>
                    <a:pt x="9212" y="0"/>
                    <a:pt x="12537" y="0"/>
                  </a:cubicBezTo>
                  <a:close/>
                </a:path>
              </a:pathLst>
            </a:custGeom>
            <a:solidFill>
              <a:srgbClr val="C1DFFF">
                <a:alpha val="64706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951697" cy="250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524254" y="5124055"/>
            <a:ext cx="7368186" cy="59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2799" spc="-111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1 year full-time</a:t>
            </a:r>
          </a:p>
          <a:p>
            <a:pPr algn="ctr">
              <a:lnSpc>
                <a:spcPts val="2295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5437721" y="6353739"/>
            <a:ext cx="7410348" cy="769775"/>
            <a:chOff x="0" y="0"/>
            <a:chExt cx="1951697" cy="2027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1697" cy="202739"/>
            </a:xfrm>
            <a:custGeom>
              <a:avLst/>
              <a:gdLst/>
              <a:ahLst/>
              <a:cxnLst/>
              <a:rect r="r" b="b" t="t" l="l"/>
              <a:pathLst>
                <a:path h="202739" w="1951697">
                  <a:moveTo>
                    <a:pt x="12537" y="0"/>
                  </a:moveTo>
                  <a:lnTo>
                    <a:pt x="1939160" y="0"/>
                  </a:lnTo>
                  <a:cubicBezTo>
                    <a:pt x="1942485" y="0"/>
                    <a:pt x="1945673" y="1321"/>
                    <a:pt x="1948025" y="3672"/>
                  </a:cubicBezTo>
                  <a:cubicBezTo>
                    <a:pt x="1950376" y="6023"/>
                    <a:pt x="1951697" y="9212"/>
                    <a:pt x="1951697" y="12537"/>
                  </a:cubicBezTo>
                  <a:lnTo>
                    <a:pt x="1951697" y="190202"/>
                  </a:lnTo>
                  <a:cubicBezTo>
                    <a:pt x="1951697" y="193527"/>
                    <a:pt x="1950376" y="196716"/>
                    <a:pt x="1948025" y="199067"/>
                  </a:cubicBezTo>
                  <a:cubicBezTo>
                    <a:pt x="1945673" y="201418"/>
                    <a:pt x="1942485" y="202739"/>
                    <a:pt x="1939160" y="202739"/>
                  </a:cubicBezTo>
                  <a:lnTo>
                    <a:pt x="12537" y="202739"/>
                  </a:lnTo>
                  <a:cubicBezTo>
                    <a:pt x="9212" y="202739"/>
                    <a:pt x="6023" y="201418"/>
                    <a:pt x="3672" y="199067"/>
                  </a:cubicBezTo>
                  <a:cubicBezTo>
                    <a:pt x="1321" y="196716"/>
                    <a:pt x="0" y="193527"/>
                    <a:pt x="0" y="190202"/>
                  </a:cubicBezTo>
                  <a:lnTo>
                    <a:pt x="0" y="12537"/>
                  </a:lnTo>
                  <a:cubicBezTo>
                    <a:pt x="0" y="9212"/>
                    <a:pt x="1321" y="6023"/>
                    <a:pt x="3672" y="3672"/>
                  </a:cubicBezTo>
                  <a:cubicBezTo>
                    <a:pt x="6023" y="1321"/>
                    <a:pt x="9212" y="0"/>
                    <a:pt x="12537" y="0"/>
                  </a:cubicBezTo>
                  <a:close/>
                </a:path>
              </a:pathLst>
            </a:custGeom>
            <a:solidFill>
              <a:srgbClr val="C1DFFF">
                <a:alpha val="6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951697" cy="250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524254" y="6668882"/>
            <a:ext cx="7368186" cy="59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2799" spc="-111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0 → shipped</a:t>
            </a:r>
          </a:p>
          <a:p>
            <a:pPr algn="ctr">
              <a:lnSpc>
                <a:spcPts val="2295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5395559" y="7799373"/>
            <a:ext cx="7410348" cy="769775"/>
            <a:chOff x="0" y="0"/>
            <a:chExt cx="1951697" cy="2027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1697" cy="202739"/>
            </a:xfrm>
            <a:custGeom>
              <a:avLst/>
              <a:gdLst/>
              <a:ahLst/>
              <a:cxnLst/>
              <a:rect r="r" b="b" t="t" l="l"/>
              <a:pathLst>
                <a:path h="202739" w="1951697">
                  <a:moveTo>
                    <a:pt x="12537" y="0"/>
                  </a:moveTo>
                  <a:lnTo>
                    <a:pt x="1939160" y="0"/>
                  </a:lnTo>
                  <a:cubicBezTo>
                    <a:pt x="1942485" y="0"/>
                    <a:pt x="1945673" y="1321"/>
                    <a:pt x="1948025" y="3672"/>
                  </a:cubicBezTo>
                  <a:cubicBezTo>
                    <a:pt x="1950376" y="6023"/>
                    <a:pt x="1951697" y="9212"/>
                    <a:pt x="1951697" y="12537"/>
                  </a:cubicBezTo>
                  <a:lnTo>
                    <a:pt x="1951697" y="190202"/>
                  </a:lnTo>
                  <a:cubicBezTo>
                    <a:pt x="1951697" y="193527"/>
                    <a:pt x="1950376" y="196716"/>
                    <a:pt x="1948025" y="199067"/>
                  </a:cubicBezTo>
                  <a:cubicBezTo>
                    <a:pt x="1945673" y="201418"/>
                    <a:pt x="1942485" y="202739"/>
                    <a:pt x="1939160" y="202739"/>
                  </a:cubicBezTo>
                  <a:lnTo>
                    <a:pt x="12537" y="202739"/>
                  </a:lnTo>
                  <a:cubicBezTo>
                    <a:pt x="9212" y="202739"/>
                    <a:pt x="6023" y="201418"/>
                    <a:pt x="3672" y="199067"/>
                  </a:cubicBezTo>
                  <a:cubicBezTo>
                    <a:pt x="1321" y="196716"/>
                    <a:pt x="0" y="193527"/>
                    <a:pt x="0" y="190202"/>
                  </a:cubicBezTo>
                  <a:lnTo>
                    <a:pt x="0" y="12537"/>
                  </a:lnTo>
                  <a:cubicBezTo>
                    <a:pt x="0" y="9212"/>
                    <a:pt x="1321" y="6023"/>
                    <a:pt x="3672" y="3672"/>
                  </a:cubicBezTo>
                  <a:cubicBezTo>
                    <a:pt x="6023" y="1321"/>
                    <a:pt x="9212" y="0"/>
                    <a:pt x="12537" y="0"/>
                  </a:cubicBezTo>
                  <a:close/>
                </a:path>
              </a:pathLst>
            </a:custGeom>
            <a:solidFill>
              <a:srgbClr val="C1DFFF">
                <a:alpha val="64706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51697" cy="250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479882" y="8113698"/>
            <a:ext cx="7368186" cy="59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2799" spc="-111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7000+ downloads</a:t>
            </a:r>
          </a:p>
          <a:p>
            <a:pPr algn="ctr">
              <a:lnSpc>
                <a:spcPts val="2295"/>
              </a:lnSpc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5540494" y="191417"/>
            <a:ext cx="2300673" cy="2300673"/>
          </a:xfrm>
          <a:custGeom>
            <a:avLst/>
            <a:gdLst/>
            <a:ahLst/>
            <a:cxnLst/>
            <a:rect r="r" b="b" t="t" l="l"/>
            <a:pathLst>
              <a:path h="2300673" w="2300673">
                <a:moveTo>
                  <a:pt x="0" y="0"/>
                </a:moveTo>
                <a:lnTo>
                  <a:pt x="2300673" y="0"/>
                </a:lnTo>
                <a:lnTo>
                  <a:pt x="2300673" y="2300674"/>
                </a:lnTo>
                <a:lnTo>
                  <a:pt x="0" y="23006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15290" y="1599491"/>
            <a:ext cx="9356608" cy="8123395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11220761" y="5835963"/>
            <a:ext cx="5547937" cy="2095500"/>
            <a:chOff x="0" y="0"/>
            <a:chExt cx="1461185" cy="5519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1185" cy="551901"/>
            </a:xfrm>
            <a:custGeom>
              <a:avLst/>
              <a:gdLst/>
              <a:ahLst/>
              <a:cxnLst/>
              <a:rect r="r" b="b" t="t" l="l"/>
              <a:pathLst>
                <a:path h="551901" w="1461185">
                  <a:moveTo>
                    <a:pt x="16746" y="0"/>
                  </a:moveTo>
                  <a:lnTo>
                    <a:pt x="1444440" y="0"/>
                  </a:lnTo>
                  <a:cubicBezTo>
                    <a:pt x="1453688" y="0"/>
                    <a:pt x="1461185" y="7497"/>
                    <a:pt x="1461185" y="16746"/>
                  </a:cubicBezTo>
                  <a:lnTo>
                    <a:pt x="1461185" y="535156"/>
                  </a:lnTo>
                  <a:cubicBezTo>
                    <a:pt x="1461185" y="544404"/>
                    <a:pt x="1453688" y="551901"/>
                    <a:pt x="1444440" y="551901"/>
                  </a:cubicBezTo>
                  <a:lnTo>
                    <a:pt x="16746" y="551901"/>
                  </a:lnTo>
                  <a:cubicBezTo>
                    <a:pt x="7497" y="551901"/>
                    <a:pt x="0" y="544404"/>
                    <a:pt x="0" y="535156"/>
                  </a:cubicBezTo>
                  <a:lnTo>
                    <a:pt x="0" y="16746"/>
                  </a:lnTo>
                  <a:cubicBezTo>
                    <a:pt x="0" y="7497"/>
                    <a:pt x="7497" y="0"/>
                    <a:pt x="16746" y="0"/>
                  </a:cubicBezTo>
                  <a:close/>
                </a:path>
              </a:pathLst>
            </a:custGeom>
            <a:solidFill>
              <a:srgbClr val="C1DFFF">
                <a:alpha val="6470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61185" cy="599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395627" y="7184937"/>
            <a:ext cx="7904153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first-tim</a:t>
            </a:r>
            <a:r>
              <a:rPr lang="en-US" b="true" sz="2700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 downloads, Dec-Apr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95627" y="6464213"/>
            <a:ext cx="7368186" cy="97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9"/>
              </a:lnSpc>
            </a:pPr>
            <a:r>
              <a:rPr lang="en-US" sz="8499" spc="-645">
                <a:solidFill>
                  <a:srgbClr val="0072FF"/>
                </a:solidFill>
                <a:latin typeface="Roca Two"/>
                <a:ea typeface="Roca Two"/>
                <a:cs typeface="Roca Two"/>
                <a:sym typeface="Roca Two"/>
              </a:rPr>
              <a:t>6,516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246937" y="2352828"/>
            <a:ext cx="5951482" cy="2372658"/>
            <a:chOff x="0" y="0"/>
            <a:chExt cx="7935309" cy="316354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7397249" cy="2794000"/>
              <a:chOff x="0" y="0"/>
              <a:chExt cx="1461185" cy="55190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461185" cy="551901"/>
              </a:xfrm>
              <a:custGeom>
                <a:avLst/>
                <a:gdLst/>
                <a:ahLst/>
                <a:cxnLst/>
                <a:rect r="r" b="b" t="t" l="l"/>
                <a:pathLst>
                  <a:path h="551901" w="1461185">
                    <a:moveTo>
                      <a:pt x="16746" y="0"/>
                    </a:moveTo>
                    <a:lnTo>
                      <a:pt x="1444440" y="0"/>
                    </a:lnTo>
                    <a:cubicBezTo>
                      <a:pt x="1453688" y="0"/>
                      <a:pt x="1461185" y="7497"/>
                      <a:pt x="1461185" y="16746"/>
                    </a:cubicBezTo>
                    <a:lnTo>
                      <a:pt x="1461185" y="535156"/>
                    </a:lnTo>
                    <a:cubicBezTo>
                      <a:pt x="1461185" y="544404"/>
                      <a:pt x="1453688" y="551901"/>
                      <a:pt x="1444440" y="551901"/>
                    </a:cubicBezTo>
                    <a:lnTo>
                      <a:pt x="16746" y="551901"/>
                    </a:lnTo>
                    <a:cubicBezTo>
                      <a:pt x="7497" y="551901"/>
                      <a:pt x="0" y="544404"/>
                      <a:pt x="0" y="535156"/>
                    </a:cubicBezTo>
                    <a:lnTo>
                      <a:pt x="0" y="16746"/>
                    </a:lnTo>
                    <a:cubicBezTo>
                      <a:pt x="0" y="7497"/>
                      <a:pt x="7497" y="0"/>
                      <a:pt x="16746" y="0"/>
                    </a:cubicBezTo>
                    <a:close/>
                  </a:path>
                </a:pathLst>
              </a:custGeom>
              <a:solidFill>
                <a:srgbClr val="C1DFFF">
                  <a:alpha val="64706"/>
                </a:srgbClr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1461185" cy="599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45883" y="226051"/>
              <a:ext cx="5825133" cy="18711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899"/>
                </a:lnSpc>
              </a:pPr>
              <a:r>
                <a:rPr lang="en-US" b="true" sz="8499">
                  <a:solidFill>
                    <a:srgbClr val="0072F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57.8 min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45883" y="1937359"/>
              <a:ext cx="7789426" cy="1226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b="true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average</a:t>
              </a:r>
              <a:r>
                <a:rPr lang="en-US" sz="2700" b="true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 engagement / active user</a:t>
              </a:r>
            </a:p>
            <a:p>
              <a:pPr algn="l">
                <a:lnSpc>
                  <a:spcPts val="3779"/>
                </a:lnSpc>
              </a:pPr>
              <a:r>
                <a:rPr lang="en-US" sz="2700" b="true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 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473345" y="1144269"/>
            <a:ext cx="9341309" cy="80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b="true" sz="6999" spc="-251">
                <a:solidFill>
                  <a:srgbClr val="0072FF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Demand  compounded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519867" y="153317"/>
            <a:ext cx="2300673" cy="2300673"/>
          </a:xfrm>
          <a:custGeom>
            <a:avLst/>
            <a:gdLst/>
            <a:ahLst/>
            <a:cxnLst/>
            <a:rect r="r" b="b" t="t" l="l"/>
            <a:pathLst>
              <a:path h="2300673" w="2300673">
                <a:moveTo>
                  <a:pt x="0" y="0"/>
                </a:moveTo>
                <a:lnTo>
                  <a:pt x="2300673" y="0"/>
                </a:lnTo>
                <a:lnTo>
                  <a:pt x="2300673" y="2300674"/>
                </a:lnTo>
                <a:lnTo>
                  <a:pt x="0" y="2300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28166" y="1916932"/>
            <a:ext cx="8584230" cy="8056721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339434" y="1233634"/>
            <a:ext cx="13609131" cy="76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1"/>
              </a:lnSpc>
            </a:pPr>
            <a:r>
              <a:rPr lang="en-US" b="true" sz="6599" spc="-257">
                <a:solidFill>
                  <a:srgbClr val="0072FF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Testing produced a winning-format 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658210" y="3179640"/>
            <a:ext cx="4762500" cy="2095500"/>
            <a:chOff x="0" y="0"/>
            <a:chExt cx="1254321" cy="5519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4321" cy="551901"/>
            </a:xfrm>
            <a:custGeom>
              <a:avLst/>
              <a:gdLst/>
              <a:ahLst/>
              <a:cxnLst/>
              <a:rect r="r" b="b" t="t" l="l"/>
              <a:pathLst>
                <a:path h="551901" w="1254321">
                  <a:moveTo>
                    <a:pt x="19507" y="0"/>
                  </a:moveTo>
                  <a:lnTo>
                    <a:pt x="1234814" y="0"/>
                  </a:lnTo>
                  <a:cubicBezTo>
                    <a:pt x="1239987" y="0"/>
                    <a:pt x="1244949" y="2055"/>
                    <a:pt x="1248608" y="5714"/>
                  </a:cubicBezTo>
                  <a:cubicBezTo>
                    <a:pt x="1252266" y="9372"/>
                    <a:pt x="1254321" y="14334"/>
                    <a:pt x="1254321" y="19507"/>
                  </a:cubicBezTo>
                  <a:lnTo>
                    <a:pt x="1254321" y="532394"/>
                  </a:lnTo>
                  <a:cubicBezTo>
                    <a:pt x="1254321" y="543168"/>
                    <a:pt x="1245587" y="551901"/>
                    <a:pt x="1234814" y="551901"/>
                  </a:cubicBezTo>
                  <a:lnTo>
                    <a:pt x="19507" y="551901"/>
                  </a:lnTo>
                  <a:cubicBezTo>
                    <a:pt x="14334" y="551901"/>
                    <a:pt x="9372" y="549846"/>
                    <a:pt x="5714" y="546188"/>
                  </a:cubicBezTo>
                  <a:cubicBezTo>
                    <a:pt x="2055" y="542529"/>
                    <a:pt x="0" y="537568"/>
                    <a:pt x="0" y="532394"/>
                  </a:cubicBezTo>
                  <a:lnTo>
                    <a:pt x="0" y="19507"/>
                  </a:lnTo>
                  <a:cubicBezTo>
                    <a:pt x="0" y="8734"/>
                    <a:pt x="8734" y="0"/>
                    <a:pt x="19507" y="0"/>
                  </a:cubicBezTo>
                  <a:close/>
                </a:path>
              </a:pathLst>
            </a:custGeom>
            <a:solidFill>
              <a:srgbClr val="C1DFFF">
                <a:alpha val="6470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54321" cy="599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169226" y="3867323"/>
            <a:ext cx="7368186" cy="97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9"/>
              </a:lnSpc>
            </a:pPr>
            <a:r>
              <a:rPr lang="en-US" sz="8499" spc="-645">
                <a:solidFill>
                  <a:srgbClr val="0072FF"/>
                </a:solidFill>
                <a:latin typeface="Roca Two"/>
                <a:ea typeface="Roca Two"/>
                <a:cs typeface="Roca Two"/>
                <a:sym typeface="Roca Two"/>
              </a:rPr>
              <a:t>9.5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86842" y="4726429"/>
            <a:ext cx="7904153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Downloads per £1 in April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658210" y="5656140"/>
            <a:ext cx="4762500" cy="2095500"/>
            <a:chOff x="0" y="0"/>
            <a:chExt cx="1254321" cy="5519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4321" cy="551901"/>
            </a:xfrm>
            <a:custGeom>
              <a:avLst/>
              <a:gdLst/>
              <a:ahLst/>
              <a:cxnLst/>
              <a:rect r="r" b="b" t="t" l="l"/>
              <a:pathLst>
                <a:path h="551901" w="1254321">
                  <a:moveTo>
                    <a:pt x="19507" y="0"/>
                  </a:moveTo>
                  <a:lnTo>
                    <a:pt x="1234814" y="0"/>
                  </a:lnTo>
                  <a:cubicBezTo>
                    <a:pt x="1239987" y="0"/>
                    <a:pt x="1244949" y="2055"/>
                    <a:pt x="1248608" y="5714"/>
                  </a:cubicBezTo>
                  <a:cubicBezTo>
                    <a:pt x="1252266" y="9372"/>
                    <a:pt x="1254321" y="14334"/>
                    <a:pt x="1254321" y="19507"/>
                  </a:cubicBezTo>
                  <a:lnTo>
                    <a:pt x="1254321" y="532394"/>
                  </a:lnTo>
                  <a:cubicBezTo>
                    <a:pt x="1254321" y="543168"/>
                    <a:pt x="1245587" y="551901"/>
                    <a:pt x="1234814" y="551901"/>
                  </a:cubicBezTo>
                  <a:lnTo>
                    <a:pt x="19507" y="551901"/>
                  </a:lnTo>
                  <a:cubicBezTo>
                    <a:pt x="14334" y="551901"/>
                    <a:pt x="9372" y="549846"/>
                    <a:pt x="5714" y="546188"/>
                  </a:cubicBezTo>
                  <a:cubicBezTo>
                    <a:pt x="2055" y="542529"/>
                    <a:pt x="0" y="537568"/>
                    <a:pt x="0" y="532394"/>
                  </a:cubicBezTo>
                  <a:lnTo>
                    <a:pt x="0" y="19507"/>
                  </a:lnTo>
                  <a:cubicBezTo>
                    <a:pt x="0" y="8734"/>
                    <a:pt x="8734" y="0"/>
                    <a:pt x="19507" y="0"/>
                  </a:cubicBezTo>
                  <a:close/>
                </a:path>
              </a:pathLst>
            </a:custGeom>
            <a:solidFill>
              <a:srgbClr val="C1DFFF">
                <a:alpha val="64706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54321" cy="599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206585" y="6271803"/>
            <a:ext cx="2022851" cy="97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9"/>
              </a:lnSpc>
            </a:pPr>
            <a:r>
              <a:rPr lang="en-US" sz="8499" spc="-645">
                <a:solidFill>
                  <a:srgbClr val="0072FF"/>
                </a:solidFill>
                <a:latin typeface="Roca Two"/>
                <a:ea typeface="Roca Two"/>
                <a:cs typeface="Roca Two"/>
                <a:sym typeface="Roca Two"/>
              </a:rPr>
              <a:t>3.1x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86842" y="7196362"/>
            <a:ext cx="361896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March’s  download rate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700842" y="153317"/>
            <a:ext cx="2300673" cy="2300673"/>
          </a:xfrm>
          <a:custGeom>
            <a:avLst/>
            <a:gdLst/>
            <a:ahLst/>
            <a:cxnLst/>
            <a:rect r="r" b="b" t="t" l="l"/>
            <a:pathLst>
              <a:path h="2300673" w="2300673">
                <a:moveTo>
                  <a:pt x="0" y="0"/>
                </a:moveTo>
                <a:lnTo>
                  <a:pt x="2300673" y="0"/>
                </a:lnTo>
                <a:lnTo>
                  <a:pt x="2300673" y="2300674"/>
                </a:lnTo>
                <a:lnTo>
                  <a:pt x="0" y="2300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610798" y="2380824"/>
            <a:ext cx="361896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Downloads per £1 spent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2950806" y="0"/>
            <a:ext cx="13716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DAHTA1VyMjo</dc:identifier>
  <dcterms:modified xsi:type="dcterms:W3CDTF">2011-08-01T06:04:30Z</dcterms:modified>
  <cp:revision>1</cp:revision>
  <dc:title>Alma Pitch, RF</dc:title>
</cp:coreProperties>
</file>